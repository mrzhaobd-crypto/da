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aac85a7ccb843d5" Type="http://schemas.openxmlformats.org/officeDocument/2006/relationships/officeDocument" Target="ppt/presentation.xml"/><Relationship Id="R20184bfcb3454ccd" Type="http://schemas.openxmlformats.org/officeDocument/2006/relationships/extended-properties" Target="docProps/app.xml"/><Relationship Id="Ra75001207cd14238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9fa175e90d4917"/>
  </p:sldMasterIdLst>
  <p:notesMasterIdLst>
    <p:notesMasterId xmlns:r="http://schemas.openxmlformats.org/officeDocument/2006/relationships" r:id="R6011da9577984d71"/>
  </p:notesMasterIdLst>
  <p:sldIdLst>
    <p:sldId xmlns:r="http://schemas.openxmlformats.org/officeDocument/2006/relationships" id="256" r:id="Rcd56ed1b4aab4e2f"/>
    <p:sldId xmlns:r="http://schemas.openxmlformats.org/officeDocument/2006/relationships" id="257" r:id="R26f7d57e6b5246e0"/>
    <p:sldId xmlns:r="http://schemas.openxmlformats.org/officeDocument/2006/relationships" id="258" r:id="R76bc399a248f44a1"/>
    <p:sldId xmlns:r="http://schemas.openxmlformats.org/officeDocument/2006/relationships" id="259" r:id="R971b8ecc33374118"/>
    <p:sldId xmlns:r="http://schemas.openxmlformats.org/officeDocument/2006/relationships" id="260" r:id="Rebe273849133495a"/>
    <p:sldId xmlns:r="http://schemas.openxmlformats.org/officeDocument/2006/relationships" id="261" r:id="R776f3470b1d449e5"/>
    <p:sldId xmlns:r="http://schemas.openxmlformats.org/officeDocument/2006/relationships" id="262" r:id="R09ed6402248842d7"/>
    <p:sldId xmlns:r="http://schemas.openxmlformats.org/officeDocument/2006/relationships" id="263" r:id="R70f6b7691228454e"/>
    <p:sldId xmlns:r="http://schemas.openxmlformats.org/officeDocument/2006/relationships" id="264" r:id="Rce2d62607575459b"/>
    <p:sldId xmlns:r="http://schemas.openxmlformats.org/officeDocument/2006/relationships" id="265" r:id="R6955687b212e4a55"/>
    <p:sldId xmlns:r="http://schemas.openxmlformats.org/officeDocument/2006/relationships" id="266" r:id="Rc02933fa6f6f4bd8"/>
    <p:sldId xmlns:r="http://schemas.openxmlformats.org/officeDocument/2006/relationships" id="267" r:id="R24a3f3f81e294e1e"/>
    <p:sldId xmlns:r="http://schemas.openxmlformats.org/officeDocument/2006/relationships" id="268" r:id="Rb5343ddd68054312"/>
    <p:sldId xmlns:r="http://schemas.openxmlformats.org/officeDocument/2006/relationships" id="282" r:id="R1fb8876e3cd34525"/>
    <p:sldId xmlns:r="http://schemas.openxmlformats.org/officeDocument/2006/relationships" id="269" r:id="Re2193d5e2a314311"/>
    <p:sldId xmlns:r="http://schemas.openxmlformats.org/officeDocument/2006/relationships" id="280" r:id="R6783dfe5e62c41d6"/>
    <p:sldId xmlns:r="http://schemas.openxmlformats.org/officeDocument/2006/relationships" id="270" r:id="R0255ed4b2f8846a2"/>
    <p:sldId xmlns:r="http://schemas.openxmlformats.org/officeDocument/2006/relationships" id="271" r:id="Rbb51d87d5c6c4583"/>
    <p:sldId xmlns:r="http://schemas.openxmlformats.org/officeDocument/2006/relationships" id="272" r:id="R8e0ddf3b63d743f8"/>
    <p:sldId xmlns:r="http://schemas.openxmlformats.org/officeDocument/2006/relationships" id="273" r:id="Re8fd5293a77d4153"/>
    <p:sldId xmlns:r="http://schemas.openxmlformats.org/officeDocument/2006/relationships" id="274" r:id="R1de456b40a1a4468"/>
    <p:sldId xmlns:r="http://schemas.openxmlformats.org/officeDocument/2006/relationships" id="275" r:id="Rdd3dc3ad4f3e4bc1"/>
    <p:sldId xmlns:r="http://schemas.openxmlformats.org/officeDocument/2006/relationships" id="276" r:id="Rbba75fb7d974464a"/>
    <p:sldId xmlns:r="http://schemas.openxmlformats.org/officeDocument/2006/relationships" id="277" r:id="Ree95200236854117"/>
    <p:sldId xmlns:r="http://schemas.openxmlformats.org/officeDocument/2006/relationships" id="278" r:id="R2ec8741835f045e4"/>
    <p:sldId xmlns:r="http://schemas.openxmlformats.org/officeDocument/2006/relationships" id="279" r:id="R6297645dcca4421a"/>
    <p:sldId xmlns:r="http://schemas.openxmlformats.org/officeDocument/2006/relationships" id="281" r:id="R7c697ba4e4ea487c"/>
  </p:sldIdLst>
  <p:sldSz cx="9144000" cy="51435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0255ed4b2f8846a2" Type="http://schemas.openxmlformats.org/officeDocument/2006/relationships/slide" Target="slides/slide15.xml"/><Relationship Id="R09ed6402248842d7" Type="http://schemas.openxmlformats.org/officeDocument/2006/relationships/slide" Target="slides/slide7.xml"/><Relationship Id="R1de456b40a1a4468" Type="http://schemas.openxmlformats.org/officeDocument/2006/relationships/slide" Target="slides/slide19.xml"/><Relationship Id="R1fb8876e3cd34525" Type="http://schemas.openxmlformats.org/officeDocument/2006/relationships/slide" Target="slides/slide27.xml"/><Relationship Id="R24a3f3f81e294e1e" Type="http://schemas.openxmlformats.org/officeDocument/2006/relationships/slide" Target="slides/slide12.xml"/><Relationship Id="R26f7d57e6b5246e0" Type="http://schemas.openxmlformats.org/officeDocument/2006/relationships/slide" Target="slides/slide2.xml"/><Relationship Id="R2e16af75ab5d4514" Type="http://schemas.openxmlformats.org/officeDocument/2006/relationships/viewProps" Target="viewProps.xml"/><Relationship Id="R2ec8741835f045e4" Type="http://schemas.openxmlformats.org/officeDocument/2006/relationships/slide" Target="slides/slide23.xml"/><Relationship Id="R6011da9577984d71" Type="http://schemas.openxmlformats.org/officeDocument/2006/relationships/notesMaster" Target="notesMasters/notesMaster1.xml"/><Relationship Id="R6297645dcca4421a" Type="http://schemas.openxmlformats.org/officeDocument/2006/relationships/slide" Target="slides/slide24.xml"/><Relationship Id="R6783dfe5e62c41d6" Type="http://schemas.openxmlformats.org/officeDocument/2006/relationships/slide" Target="slides/slide25.xml"/><Relationship Id="R6955687b212e4a55" Type="http://schemas.openxmlformats.org/officeDocument/2006/relationships/slide" Target="slides/slide10.xml"/><Relationship Id="R70f6b7691228454e" Type="http://schemas.openxmlformats.org/officeDocument/2006/relationships/slide" Target="slides/slide8.xml"/><Relationship Id="R76bc399a248f44a1" Type="http://schemas.openxmlformats.org/officeDocument/2006/relationships/slide" Target="slides/slide3.xml"/><Relationship Id="R776f3470b1d449e5" Type="http://schemas.openxmlformats.org/officeDocument/2006/relationships/slide" Target="slides/slide6.xml"/><Relationship Id="R78e6ae2875634cbf" Type="http://schemas.openxmlformats.org/officeDocument/2006/relationships/tableStyles" Target="tableStyles.xml"/><Relationship Id="R7c697ba4e4ea487c" Type="http://schemas.openxmlformats.org/officeDocument/2006/relationships/slide" Target="slides/slide26.xml"/><Relationship Id="R7fb57923e7234da5" Type="http://schemas.openxmlformats.org/officeDocument/2006/relationships/theme" Target="theme/theme1.xml"/><Relationship Id="R8e0ddf3b63d743f8" Type="http://schemas.openxmlformats.org/officeDocument/2006/relationships/slide" Target="slides/slide17.xml"/><Relationship Id="R971b8ecc33374118" Type="http://schemas.openxmlformats.org/officeDocument/2006/relationships/slide" Target="slides/slide4.xml"/><Relationship Id="Ra27441bf0cb64747" Type="http://schemas.openxmlformats.org/officeDocument/2006/relationships/presProps" Target="presProps.xml"/><Relationship Id="Rb5343ddd68054312" Type="http://schemas.openxmlformats.org/officeDocument/2006/relationships/slide" Target="slides/slide13.xml"/><Relationship Id="Rbb51d87d5c6c4583" Type="http://schemas.openxmlformats.org/officeDocument/2006/relationships/slide" Target="slides/slide16.xml"/><Relationship Id="Rbba75fb7d974464a" Type="http://schemas.openxmlformats.org/officeDocument/2006/relationships/slide" Target="slides/slide21.xml"/><Relationship Id="Rbf9fa175e90d4917" Type="http://schemas.openxmlformats.org/officeDocument/2006/relationships/slideMaster" Target="slideMasters/slideMaster1.xml"/><Relationship Id="Rc02933fa6f6f4bd8" Type="http://schemas.openxmlformats.org/officeDocument/2006/relationships/slide" Target="slides/slide11.xml"/><Relationship Id="Rcd56ed1b4aab4e2f" Type="http://schemas.openxmlformats.org/officeDocument/2006/relationships/slide" Target="slides/slide1.xml"/><Relationship Id="Rce2d62607575459b" Type="http://schemas.openxmlformats.org/officeDocument/2006/relationships/slide" Target="slides/slide9.xml"/><Relationship Id="Rdd3dc3ad4f3e4bc1" Type="http://schemas.openxmlformats.org/officeDocument/2006/relationships/slide" Target="slides/slide20.xml"/><Relationship Id="Re2193d5e2a314311" Type="http://schemas.openxmlformats.org/officeDocument/2006/relationships/slide" Target="slides/slide14.xml"/><Relationship Id="Re8fd5293a77d4153" Type="http://schemas.openxmlformats.org/officeDocument/2006/relationships/slide" Target="slides/slide18.xml"/><Relationship Id="Rebe273849133495a" Type="http://schemas.openxmlformats.org/officeDocument/2006/relationships/slide" Target="slides/slide5.xml"/><Relationship Id="Ree9520023685411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91b56b599a004cf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86c644afc39f429f" Type="http://schemas.openxmlformats.org/officeDocument/2006/relationships/notesMaster" Target="../notesMasters/notesMaster1.xml"/><Relationship Id="Rcb576be4d16c4ce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45a7117a2f8d4a01" Type="http://schemas.openxmlformats.org/officeDocument/2006/relationships/slide" Target="../slides/slide2.xml"/><Relationship Id="Rb137d0fb64ac4d2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8800c8d24fa64c20" Type="http://schemas.openxmlformats.org/officeDocument/2006/relationships/slide" Target="../slides/slide3.xml"/><Relationship Id="R88a62af53cc8488a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266d3de9bfa54486" Type="http://schemas.openxmlformats.org/officeDocument/2006/relationships/notesMaster" Target="../notesMasters/notesMaster1.xml"/><Relationship Id="R45ad1711f349427e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71cb160e4b554503" Type="http://schemas.openxmlformats.org/officeDocument/2006/relationships/slide" Target="../slides/slide5.xml"/><Relationship Id="R8ea42614c53048f3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2f1e974447440d6" Type="http://schemas.openxmlformats.org/officeDocument/2006/relationships/slide" Target="../slides/slide6.xml"/><Relationship Id="R728804d430da465c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4a21626b50e438e" Type="http://schemas.openxmlformats.org/officeDocument/2006/relationships/slide" Target="../slides/slide7.xml"/><Relationship Id="R42c6421cb7eb41c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45610d28f5e0435f" Type="http://schemas.openxmlformats.org/officeDocument/2006/relationships/notesMaster" Target="../notesMasters/notesMaster1.xml"/><Relationship Id="R8add04480c654e9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31b3571a9f904845" Type="http://schemas.openxmlformats.org/officeDocument/2006/relationships/notesMaster" Target="../notesMasters/notesMaster1.xml"/><Relationship Id="Rd34c7e42eb8b4fa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08815bbeb04f4c45" Type="http://schemas.openxmlformats.org/officeDocument/2006/relationships/notesMaster" Target="../notesMasters/notesMaster1.xml"/><Relationship Id="R754287a9cbae40fc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6ff06f778d724ce5" Type="http://schemas.openxmlformats.org/officeDocument/2006/relationships/notesMaster" Target="../notesMasters/notesMaster1.xml"/><Relationship Id="R9767a30773004a1c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0204bdc42e842b2" Type="http://schemas.openxmlformats.org/officeDocument/2006/relationships/slide" Target="../slides/slide12.xml"/><Relationship Id="Reac7d7623946490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9bf847e555ee4989" Type="http://schemas.openxmlformats.org/officeDocument/2006/relationships/slide" Target="../slides/slide13.xml"/><Relationship Id="Rad140650efd24c0d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03c4a3436c974377" Type="http://schemas.openxmlformats.org/officeDocument/2006/relationships/slide" Target="../slides/slide14.xml"/><Relationship Id="R7b557ba4f56c4666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9a44eced79b944a1" Type="http://schemas.openxmlformats.org/officeDocument/2006/relationships/slide" Target="../slides/slide15.xml"/><Relationship Id="Reff4c2a9cb254ad3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9b8910e11fc4a3d" Type="http://schemas.openxmlformats.org/officeDocument/2006/relationships/slide" Target="../slides/slide16.xml"/><Relationship Id="Rabb8047d26e74b06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5bd70057e2074392" Type="http://schemas.openxmlformats.org/officeDocument/2006/relationships/notesMaster" Target="../notesMasters/notesMaster1.xml"/><Relationship Id="Ra39c2a794a114dc7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cea71f740fa84858" Type="http://schemas.openxmlformats.org/officeDocument/2006/relationships/notesMaster" Target="../notesMasters/notesMaster1.xml"/><Relationship Id="Rd9305fa56e82421c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b59ae1c38edd4430" Type="http://schemas.openxmlformats.org/officeDocument/2006/relationships/notesMaster" Target="../notesMasters/notesMaster1.xml"/><Relationship Id="Re2c5699e2f2b4a5d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49e44be4faec44ba" Type="http://schemas.openxmlformats.org/officeDocument/2006/relationships/notesMaster" Target="../notesMasters/notesMaster1.xml"/><Relationship Id="R92c8655687754355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7ede6e404058483c" Type="http://schemas.openxmlformats.org/officeDocument/2006/relationships/slide" Target="../slides/slide21.xml"/><Relationship Id="Rbadbf8be3fe141ae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2868d475b04f4c2f" Type="http://schemas.openxmlformats.org/officeDocument/2006/relationships/slide" Target="../slides/slide22.xml"/><Relationship Id="R95379d6db19c43c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585b592f25f34d12" Type="http://schemas.openxmlformats.org/officeDocument/2006/relationships/notesMaster" Target="../notesMasters/notesMaster1.xml"/><Relationship Id="Ra0233a2f12674f7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76c3bf72e33e451e" Type="http://schemas.openxmlformats.org/officeDocument/2006/relationships/notesMaster" Target="../notesMasters/notesMaster1.xml"/><Relationship Id="Re65e7b0894b34d48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0f764467cc034f10" Type="http://schemas.openxmlformats.org/officeDocument/2006/relationships/slide" Target="../slides/slide25.xml"/><Relationship Id="R9ccfdfa5290e4bdc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3174640d8fa14557" Type="http://schemas.openxmlformats.org/officeDocument/2006/relationships/slide" Target="../slides/slide26.xml"/><Relationship Id="Rf2211f898b184d6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66b5179b299b42b7" Type="http://schemas.openxmlformats.org/officeDocument/2006/relationships/notesMaster" Target="../notesMasters/notesMaster1.xml"/><Relationship Id="Radab9a6272824eec" Type="http://schemas.openxmlformats.org/officeDocument/2006/relationships/slide" Target="../slides/slide2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안녕하세요. NoteQuiz를 기획한 zhaoboda입니다. 강의 노트를 요약과 복습 퀴즈로 연결한 UI 프로토타입을 소개하겠습니다.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대상은 긴 강의 자료를 정리하고 시험 전에 빠르게 복습하려는 대학생입니다. 입력, 요약, 퀴즈, 해설, 결과의 다섯 화면입니다. 실제 AI 호출은 없고 로컬 GET 예시만 사용합니다.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Knowt의 전체 평점과 최근 30건을 구분했습니다. R06은 복습할 때 원래 보기와 다른 선택지가 반복되는 경험을 보고합니다. 원인과 감정은 가설이며 내부 구현을 확인한 것은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해설 화면은 정답, 해설, 원래 보기와 내 선택, 강의 근거, 다음 행동 순서입니다. E-2는 같은 문항 객체를 쓰고, E-3은 원문을 항상 보여 주며, E-4는 다음 과업으로 이동합니다.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학생은 모두 상시 표시를 선택했고, AI는 작은 화면의 탐색 부담을 반론했습니다. 학생도 번잡함을 인정했으며, 접기 대신 정답 우선과 영역 구분으로 수정했습니다. 효과는 아직 사용자 실험으로 검증하지 않았습니다.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 전환은 Navigator, 데이터는 api.dart의 GET만 사용합니다. 모든 GET 화면에 로딩, 오류와 재시도, 빈 상태가 있고, 840px 이상에서 측면 안내와 3열 요약이 나타납니다.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1분 영상은 실제 브라우저 캡처와 위젯 테스트 상태 화면을 편집한 것입니다. 연속 녹화가 아니며, 영상이 재생되지 않으면 docs/영상/demo_1min.mp4를 엽니다.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이번 판단은 정보를 숨기지 않으면서 읽기 순서를 만드는 것이었습니다. 다음에는 학습자가 정답과 근거를 찾는 시간을 관찰해 정보 위계와 스크롤 부담을 검증하겠습니다.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질문을 받겠습니다. 실제 AI 여부, 상시 표시의 근거, 원래 보기와 내 선택을 표시하는 이유, 고정 결과의 범위를 설명할 수 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부록 B1입니다. 입력, 퀴즈, 해설, 결과의 실제 브라우저 화면입니다.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상태는 위젯 테스트 렌더링이고, 넓은 화면은 1280×800 위젯 테스트입니다. 840px 이상에서 측면 안내와 3열 요약이 보입니다.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원칙 카드의 핵심 네 항목과 추가 적용 P03, P05, P07, P08을 함께 기록했습니다.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U는 학생 발화를 한국어로 옮긴 기록이고 A는 AI 분석 질문입니다. U0은 반론 요청이 아니며, 쟁점 3·4는 AI 검토안으로만 표시했습니다.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자가평가와 제출 상태입니다. GitHub 원격은 등록되어 있고, LMS 제출과 6분 실제 시간 측정은 제출자가 확인합니다.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쟁점 1의 전·후입니다. before는 설계 비교안이고 after는 현재 UI 위젯 테스트입니다. 실제 배포본이나 사용자 실험이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080a4303248485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b82241607ee4484" Type="http://schemas.openxmlformats.org/officeDocument/2006/relationships/theme" Target="theme/theme2.xml"/><Relationship Id="R5c150b3f674143a1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150b3f674143a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c6df8fc785d4237" Type="http://schemas.openxmlformats.org/officeDocument/2006/relationships/image" Target="../media/image.jpeg"/><Relationship Id="R6dbca494f60c4004" Type="http://schemas.openxmlformats.org/officeDocument/2006/relationships/slideLayout" Target="../slideLayouts/slideLayout1.xml"/><Relationship Id="Re8d06f93238741c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c268ca759914cb3" Type="http://schemas.openxmlformats.org/officeDocument/2006/relationships/notesSlide" Target="../notesSlides/notesSlide2.xml"/><Relationship Id="R97bb85f513a44ea9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119ab8c7cc1a4e78" Type="http://schemas.openxmlformats.org/officeDocument/2006/relationships/slideLayout" Target="../slideLayouts/slideLayout1.xml"/><Relationship Id="Rb2afa7e08581476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034f76baf3cc49ff" Type="http://schemas.openxmlformats.org/officeDocument/2006/relationships/notesSlide" Target="../notesSlides/notesSlide4.xml"/><Relationship Id="R9468924c96d84473" Type="http://schemas.openxmlformats.org/officeDocument/2006/relationships/slideLayout" Target="../slideLayouts/slideLayout1.xml"/><Relationship Id="Rd0ef94c977eb4bdf" Type="http://schemas.openxmlformats.org/officeDocument/2006/relationships/image" Target="../media/image2.jpeg"/><Relationship Id="rId4" Type="http://schemas.openxmlformats.org/officeDocument/2006/relationships/image" Target="../media/image18.jpg"/></Relationships>
</file>

<file path=ppt/slides/_rels/slide5.xml.rels><?xml version='1.0' encoding='UTF-8' standalone='yes'?>
<Relationships xmlns="http://schemas.openxmlformats.org/package/2006/relationships"><Relationship Id="R68b852b619ab4174" Type="http://schemas.openxmlformats.org/officeDocument/2006/relationships/slideLayout" Target="../slideLayouts/slideLayout1.xml"/><Relationship Id="Rbdbc4f25d4214aba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33656590734b40d7" Type="http://schemas.openxmlformats.org/officeDocument/2006/relationships/slideLayout" Target="../slideLayouts/slideLayout1.xml"/><Relationship Id="R464ced7a233e407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2feb0a50f5124fe5" Type="http://schemas.openxmlformats.org/officeDocument/2006/relationships/notesSlide" Target="../notesSlides/notesSlide7.xml"/><Relationship Id="R4a876425023540ad" Type="http://schemas.openxmlformats.org/officeDocument/2006/relationships/slideLayout" Target="../slideLayouts/slideLayout1.xml"/><Relationship Id="Ra2854df1e595417b" Type="http://schemas.openxmlformats.org/officeDocument/2006/relationships/image" Target="../media/image3.jpeg"/><Relationship Id="rIdDemoMedia" Type="http://schemas.microsoft.com/office/2007/relationships/media" Target="../media/notequiz-demo.mp4"/><Relationship Id="rIdDemoVideo" Type="http://schemas.openxmlformats.org/officeDocument/2006/relationships/video" Target="../media/notequiz-demo.mp4"/></Relationships>
</file>

<file path=ppt/slides/_rels/slide8.xml.rels><?xml version='1.0' encoding='UTF-8' standalone='yes'?>
<Relationships xmlns="http://schemas.openxmlformats.org/package/2006/relationships"><Relationship Id="Rd1e423999a074c2d" Type="http://schemas.openxmlformats.org/officeDocument/2006/relationships/slideLayout" Target="../slideLayouts/slideLayout1.xml"/><Relationship Id="Rd28b5508ab914ada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3af8833ca5a4d28" Type="http://schemas.openxmlformats.org/officeDocument/2006/relationships/slideLayout" Target="../slideLayouts/slideLayout1.xml"/><Relationship Id="Rae39f0e82a034c0c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2d22821581244915" Type="http://schemas.openxmlformats.org/officeDocument/2006/relationships/image" Target="../media/image4.jpeg"/><Relationship Id="R4a37a3d149a04303" Type="http://schemas.openxmlformats.org/officeDocument/2006/relationships/image" Target="../media/image5.jpeg"/><Relationship Id="R4c1e76a639ac4860" Type="http://schemas.openxmlformats.org/officeDocument/2006/relationships/image" Target="../media/image6.jpeg"/><Relationship Id="R75dbfcb940df4eea" Type="http://schemas.openxmlformats.org/officeDocument/2006/relationships/image" Target="../media/image7.jpeg"/><Relationship Id="R7c8d31fa374c42ea" Type="http://schemas.openxmlformats.org/officeDocument/2006/relationships/slideLayout" Target="../slideLayouts/slideLayout1.xml"/><Relationship Id="Rbcb10c0b660f46d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69896cc9af124e14" Type="http://schemas.openxmlformats.org/officeDocument/2006/relationships/notesSlide" Target="../notesSlides/notesSlide11.xml"/><Relationship Id="R6e6ab907b9f14e73" Type="http://schemas.openxmlformats.org/officeDocument/2006/relationships/slideLayout" Target="../slideLayouts/slideLayout1.xml"/><Relationship Id="R7fcefc0f2425451e" Type="http://schemas.openxmlformats.org/officeDocument/2006/relationships/image" Target="../media/image8.jpeg"/><Relationship Id="Raf803537147d4792" Type="http://schemas.openxmlformats.org/officeDocument/2006/relationships/image" Target="../media/image2.png"/><Relationship Id="Rce8dc1d7322548b3" Type="http://schemas.openxmlformats.org/officeDocument/2006/relationships/image" Target="../media/image3.png"/><Relationship Id="Rf2dfcac6ddfd42d4" Type="http://schemas.openxmlformats.org/officeDocument/2006/relationships/image" Target="../media/image.png"/><Relationship Id="rId7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375b6ba7a19042f4" Type="http://schemas.openxmlformats.org/officeDocument/2006/relationships/notesSlide" Target="../notesSlides/notesSlide12.xml"/><Relationship Id="Rb90bdc3816814c73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b8ec0aa65c514873" Type="http://schemas.openxmlformats.org/officeDocument/2006/relationships/slideLayout" Target="../slideLayouts/slideLayout1.xml"/><Relationship Id="Rc9fe308820f84bba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06f1b2d9a414848" Type="http://schemas.openxmlformats.org/officeDocument/2006/relationships/slideLayout" Target="../slideLayouts/slideLayout1.xml"/><Relationship Id="Rdd4eb30398e64cb1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0ada28040ddc4e3a" Type="http://schemas.openxmlformats.org/officeDocument/2006/relationships/notesSlide" Target="../notesSlides/notesSlide15.xml"/><Relationship Id="R4c4c7a06b42641f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cd3d08919df7479f" Type="http://schemas.openxmlformats.org/officeDocument/2006/relationships/notesSlide" Target="../notesSlides/notesSlide16.xml"/><Relationship Id="Rd434d5941f23407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0e0021730fd9468e" Type="http://schemas.openxmlformats.org/officeDocument/2006/relationships/slideLayout" Target="../slideLayouts/slideLayout1.xml"/><Relationship Id="Rcc8c23b7669043e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273c6afd0c09479b" Type="http://schemas.openxmlformats.org/officeDocument/2006/relationships/notesSlide" Target="../notesSlides/notesSlide18.xml"/><Relationship Id="Ra6959b80bb334d9d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06ff74da15ce47f1" Type="http://schemas.openxmlformats.org/officeDocument/2006/relationships/image" Target="../media/image9.jpeg"/><Relationship Id="R3d444d9ae19e4f3b" Type="http://schemas.openxmlformats.org/officeDocument/2006/relationships/notesSlide" Target="../notesSlides/notesSlide19.xml"/><Relationship Id="R556e9c8170f3452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00e440790bd5427b" Type="http://schemas.openxmlformats.org/officeDocument/2006/relationships/image" Target="../media/image10.jpeg"/><Relationship Id="R91dfb943addb4eb4" Type="http://schemas.openxmlformats.org/officeDocument/2006/relationships/notesSlide" Target="../notesSlides/notesSlide20.xml"/><Relationship Id="Ra19860a0e69a48ce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b900d877d0f74185" Type="http://schemas.openxmlformats.org/officeDocument/2006/relationships/image" Target="../media/image11.jpeg"/><Relationship Id="Rc9eba4283936465a" Type="http://schemas.openxmlformats.org/officeDocument/2006/relationships/notesSlide" Target="../notesSlides/notesSlide21.xml"/><Relationship Id="Rf6c1b259dd144d66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8e1850efde0d4705" Type="http://schemas.openxmlformats.org/officeDocument/2006/relationships/image" Target="../media/image12.jpeg"/><Relationship Id="Ra6cf94f45f4a4986" Type="http://schemas.openxmlformats.org/officeDocument/2006/relationships/notesSlide" Target="../notesSlides/notesSlide22.xml"/><Relationship Id="Rdd1bc7c67ec34ee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278227c8e821402d" Type="http://schemas.openxmlformats.org/officeDocument/2006/relationships/notesSlide" Target="../notesSlides/notesSlide23.xml"/><Relationship Id="R54958f60087548c4" Type="http://schemas.openxmlformats.org/officeDocument/2006/relationships/slideLayout" Target="../slideLayouts/slideLayout1.xml"/><Relationship Id="R96a15b58a42e4dbf" Type="http://schemas.openxmlformats.org/officeDocument/2006/relationships/image" Target="../media/image13.jpeg"/></Relationships>
</file>

<file path=ppt/slides/_rels/slide24.xml.rels><?xml version='1.0' encoding='UTF-8' standalone='yes'?>
<Relationships xmlns="http://schemas.openxmlformats.org/package/2006/relationships"><Relationship Id="R84e0ff3575044ab6" Type="http://schemas.openxmlformats.org/officeDocument/2006/relationships/slideLayout" Target="../slideLayouts/slideLayout1.xml"/><Relationship Id="R868be0e67de74ac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921939934ff5426b" Type="http://schemas.openxmlformats.org/officeDocument/2006/relationships/notesSlide" Target="../notesSlides/notesSlide25.xml"/><Relationship Id="R96d583b1b5764c6b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5abbbf3c1516404a" Type="http://schemas.openxmlformats.org/officeDocument/2006/relationships/notesSlide" Target="../notesSlides/notesSlide26.xml"/><Relationship Id="R6b748203939c44b6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13aa7a49f7384e4a" Type="http://schemas.openxmlformats.org/officeDocument/2006/relationships/slideLayout" Target="../slideLayouts/slideLayout1.xml"/><Relationship Id="R22b8827dddfa42fd" Type="http://schemas.openxmlformats.org/officeDocument/2006/relationships/notesSlide" Target="../notesSlides/notesSlide27.xml"/><Relationship Id="R92539ac2a7bd433e" Type="http://schemas.openxmlformats.org/officeDocument/2006/relationships/image" Target="../media/image14.jpeg"/><Relationship Id="Rfc227bbeac964155" Type="http://schemas.openxmlformats.org/officeDocument/2006/relationships/image" Target="../media/image4.png"/><Relationship Id="rId5" Type="http://schemas.openxmlformats.org/officeDocument/2006/relationships/image" Target="../media/image18.jpg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1A0532-C470-48DA-87DC-3602B2B3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GAI3008 · 중간프로젝트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A143B4-CC58-4370-A381-9FBC3F1D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NoteQuiz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CBA1F-A718-4ED8-832B-2F86DE23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59CBF-C5C2-4DFC-A11F-E2A3D63C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28750"/>
            <a:ext cx="5619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강의 노트를 핵심 요약과 복습 퀴즈로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F5C941-FA17-4FC6-BB74-A8AB0BEE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667000"/>
            <a:ext cx="533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교육 · 대학생을 위한 복습 UI</a:t>
            </a:r>
          </a:p>
          <a:p xmlns:a="http://schemas.openxmlformats.org/drawingml/2006/main">
            <a:pPr>
              <a:def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zhaoboda / 2025106293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21FD1-528C-47D1-84AE-0EB4B81D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95750"/>
            <a:ext cx="552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Knowt 참고 개인 개선안 · 실제 AI 호출 없음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86EC40-FD4F-4384-9743-79394E7276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6df8fc785d4237"/>
          <a:stretch xmlns:a="http://schemas.openxmlformats.org/drawingml/2006/main"/>
        </p:blipFill>
        <p:spPr>
          <a:xfrm xmlns:a="http://schemas.openxmlformats.org/drawingml/2006/main">
            <a:off x="6615248" y="1095375"/>
            <a:ext cx="1628504" cy="3524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15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DE214C-24F2-4C2D-84AD-59B84B27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1 /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8C2FE3-4234-4736-980E-BD586953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1. 프로젝트 개요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FFDD01-7C50-4676-A974-7D82DA40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CF34D-4F63-4589-A03B-C1DA9409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0:45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471BCB-91A0-4D2A-99FE-984FE2F69BD5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7048500"/>
              </a:tblGrid>
              <a:tr h="515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대상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긴 강의 정리에 시간이 들고 시험 전 핵심을 빠르게 복습하려는 대학생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흐름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 입력 → 주제 요약 → 객관식·OX → 정답·해설 → 예시 결과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가치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문항·답·이유·강의 근거를 같은 흐름에서 비교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계획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개념 추출, 요약 및 구조화된 퀴즈 생성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5938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이번 구현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입력과 무관한 고정 예시. 로컬 json-server GET만 사용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F737DA-E3C3-4CE4-AB5A-CBEC3813E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48175"/>
            <a:ext cx="828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목표와 사용 상황은 설계 가설이며 학습 효과를 검증한 결과가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5164640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51B75-8810-4152-9B6B-F47FB065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2 /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0233C6-8E49-4A09-807E-6C669A35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2. 현행 분석과 문제 정의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B59CC-A436-4080-AEC1-2CE7AE72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E11973-5239-4DDD-A259-0DD187C0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1:00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644985-DEB8-4C3C-B7BE-87BAE34A9272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314325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57250"/>
                <a:gridCol w="1238250"/>
                <a:gridCol w="1047750"/>
              </a:tblGrid>
              <a:tr h="381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별점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전체 평가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최근 30건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9,736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219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382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2F72F-C273-44B8-A4F6-113EDBF4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190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R06 · 2026-10-12 · ★4</a:t>
            </a:r>
          </a:p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“repeating the same four choices”</a:t>
            </a:r>
          </a:p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복습 보기의 불일치 경험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7E71D-9DAB-4E0A-9ADE-010F9F42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3812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유지할 장점: 연습 방식 선택(P03)</a:t>
            </a:r>
          </a:p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개선 초점: 같은 문항의 답·해설 대응(P04)</a:t>
            </a:r>
          </a:p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입력 → 복습 → 풀이 → 해설</a:t>
            </a:r>
          </a:p>
          <a:p xmlns:a="http://schemas.openxmlformats.org/drawingml/2006/main"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감정 가설: −1 / +1 / 0 / −2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907A3B-9191-48CE-A1C1-04788DFDF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00500"/>
            <a:ext cx="8382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미국 App Store 2026-10-29: 4.7 / 11,175건. 최근 30건과 전체 평가는 다른 모집단.</a:t>
            </a:r>
          </a:p>
          <a:p xmlns:a="http://schemas.openxmlformats.org/drawingml/2006/main">
            <a: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원인·감정은 가설이며 Knowt 내부 구현을 확인한 사실이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2105933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9A650-D792-4FA9-BEB1-60DFAF58A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3 /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432FC-42E5-49F8-8928-AAC51471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3. 해결 방법과 화면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E16A15-A3AF-4F7C-ABDD-2CE878942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7288F-D641-4182-98E0-414870D9C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1:00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6A3788-3A3D-42B4-97CE-999325077032}"/>
              </a:ext>
            </a:extLst>
          </p:cNvPr>
          <p:cNvGraphicFramePr/>
          <p:nvPr/>
        </p:nvGraphicFramePr>
        <p:xfrm>
          <a:off xmlns:a="http://schemas.openxmlformats.org/drawingml/2006/main" x="2857500" y="1190625"/>
          <a:ext xmlns:a="http://schemas.openxmlformats.org/drawingml/2006/main" cx="5905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4762500"/>
              </a:tblGrid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요소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정보·원칙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문항 위치 · P01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문항의 정답·해설·원래 보기·내 선택 · P04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 근거 항상 표시 · P06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읽은 뒤 다음 문제 · P07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223693-1191-4157-AE98-47FB2EDC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14750"/>
            <a:ext cx="590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rPr sz="1250"/>
              <a:t>정보 순서: 정답 → 이유 → 원래 보기 → 내 선택 → 강의 근거 → 다음 행동</a:t>
            </a:r>
          </a:p>
          <a:p xmlns:a="http://schemas.openxmlformats.org/drawingml/2006/main">
            <a:r>
              <a:rPr sz="1250"/>
              <a:t>모두 상시 표시. 제목·색·여백으로 탐색을 돕습니다.</a:t>
            </a:r>
          </a:p>
          <a:p xmlns:a="http://schemas.openxmlformats.org/drawingml/2006/main">
            <a:r>
              <a:rPr sz="1250"/>
              <a:t>좁은 화면은 스크롤, 넓은 화면은 읽기 영역을 제한합니다.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Picture 8" descr="explanation-phone-opt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98" y="1143000"/>
            <a:ext cx="1628504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5787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70C8AC-992C-496D-B4DA-39FBEDDD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4 /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97A83-4A2E-4BB5-B956-26BBE041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4. AI 반론과 나의 판단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466FB-045D-49CE-A37B-2E65A129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4038E-FFC4-4FB8-BFC8-9C7CAC80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1:00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A4D7B-77C3-45E9-BEB7-38EA51EE38D8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81125"/>
                <a:gridCol w="7000875"/>
              </a:tblGrid>
              <a:tr h="555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기록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 주장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답·해설·원문을 모두 항상 표시하고 접지 않는다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반론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화면에서 정보량과 스크롤이 늘어 핵심 탐색이 어려울 수 있다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나의 반론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“너무 번잡해서 중요한 내용을 빠르게 찾기 어렵다” / 자체 반론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재검토안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정답을 먼저, 해설과 근거를 구역으로 구분. 숨기지 않고 스크롤 허용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결론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상시 표시 유지 / 표현 수정 / 접기 폐기 · P06·P08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23737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1B1B5-2452-48A8-A236-1E47CFAB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5 /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BAA491-CC9B-471F-A3D2-81077FCD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5. Flutter 구현과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26A03-5CE3-49D2-9502-D662BDD8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40909-806C-487F-B380-7286AABF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0:45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94538E-7375-4B9D-9804-1CE522953A76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7048500"/>
              </a:tblGrid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코드와 검증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Navigator.push / pop / popUntil. 다섯 화면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api.dart: GET /topics, /questions, /results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공통 LoadingView / ErrorView + 재시도 / EmptyView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적응형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840px 이상 측면 안내, 요약 영역 720px 이상 3열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로컬 표시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setState로 선택 강조. 질문과 해설은 같은 객체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금지 기능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AI·인증·결제·채점·저장·상태관리 패키지 없음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5496498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" name="">
            <a:extLst>
              <a:ext uri="{FF2B5EF4-FFF2-40B4-BE49-F238E27FC236}">
                <ns2:creationId id="{595272C0-58B9-47CB-9DEC-9331145522EB}"/>
              </a:ext>
            </a:extLst>
          </p:cNvPr>
          <p:cNvSpPr>
            <a:spLocks noGrp="1"/>
          </p:cNvSpPr>
          <p:nvPr/>
        </p:nvSpPr>
        <p:spPr>
          <a:xfrm>
            <a:off x="381000" y="190500"/>
            <a:ext cx="74295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6 / 7</a:t>
            </a:r>
          </a:p>
        </p:txBody>
      </p:sp>
      <p:sp>
        <p:nvSpPr>
          <p:cNvPr id="2" name="">
            <a:extLst>
              <a:ext uri="{FF2B5EF4-FFF2-40B4-BE49-F238E27FC236}">
                <ns2:creationId id="{878A2174-A1BE-47CE-B958-BE823C956C6B}"/>
              </a:ext>
            </a:extLst>
          </p:cNvPr>
          <p:cNvSpPr>
            <a:spLocks noGrp="1"/>
          </p:cNvSpPr>
          <p:nvPr/>
        </p:nvSpPr>
        <p:spPr>
          <a:xfrm>
            <a:off x="381000" y="495300"/>
            <a:ext cx="8382000" cy="5524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6. 1분 데모</a:t>
            </a:r>
          </a:p>
        </p:txBody>
      </p:sp>
      <p:sp>
        <p:nvSpPr>
          <p:cNvPr id="3" name="">
            <a:extLst>
              <a:ext uri="{FF2B5EF4-FFF2-40B4-BE49-F238E27FC236}">
                <ns2:creationId id="{083E7C99-0C4E-4D76-AC6C-6C6F9B88D414}"/>
              </a:ext>
            </a:extLst>
          </p:cNvPr>
          <p:cNvSpPr>
            <a:spLocks noGrp="1"/>
          </p:cNvSpPr>
          <p:nvPr/>
        </p:nvSpPr>
        <p:spPr>
          <a:xfrm>
            <a:off x="381000" y="4857750"/>
            <a:ext cx="76200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r>
              <a:t>NoteQuiz · zhaoboda 2025106293 · 07</a:t>
            </a:r>
          </a:p>
        </p:txBody>
      </p:sp>
      <p:sp>
        <p:nvSpPr>
          <p:cNvPr id="4" name="">
            <a:extLst>
              <a:ext uri="{FF2B5EF4-FFF2-40B4-BE49-F238E27FC236}">
                <ns2:creationId id="{5CCCE741-06A9-471F-BAE1-D3E6B2FE43D3}"/>
              </a:ext>
            </a:extLst>
          </p:cNvPr>
          <p:cNvSpPr>
            <a:spLocks noGrp="1"/>
          </p:cNvSpPr>
          <p:nvPr/>
        </p:nvSpPr>
        <p:spPr>
          <a:xfrm>
            <a:off x="7810500" y="190500"/>
            <a:ext cx="952500" cy="190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1:15</a:t>
            </a:r>
          </a:p>
        </p:txBody>
      </p:sp>
      <p:pic>
        <p:nvPicPr>
          <p:cNvPr id="5" name="">
            <a:extLst>
              <a:ext uri="{FF2B5EF4-FFF2-40B4-BE49-F238E27FC236}">
                <ns2:creationId id="{B77F173E-DC0D-45F7-9973-934A81C0260E}"/>
              </a:ext>
            </a:extLst>
            <a:hlinkClick action="ppaction://media"/>
          </p:cNvPr>
          <p:cNvPicPr>
            <a:picLocks noChangeAspect="1"/>
          </p:cNvPicPr>
          <p:nvPr>
            <a:videoFile r:link="rIdDemoVideo"/>
            <p:extLst>
              <p:ext uri="{DAA4B4D4-1D71-4841-9C3A-6FDE38B4F0EC}">
                <p14:media r:embed="rIdDemoMedia"/>
              </p:ext>
            </p:extLst>
          </p:nvPr>
        </p:nvPicPr>
        <p:blipFill>
          <a:blip r:embed="Ra2854df1e595417b"/>
          <a:stretch/>
        </p:blipFill>
        <p:spPr>
          <a:xfrm>
            <a:off x="1980973" y="1238250"/>
            <a:ext cx="2038804" cy="2952750"/>
          </a:xfrm>
          <a:prstGeom prst="rect">
            <a:avLst/>
          </a:prstGeom>
        </p:spPr>
      </p:pic>
      <p:sp>
        <p:nvSpPr>
          <p:cNvPr id="6" name="">
            <a:extLst>
              <a:ext uri="{FF2B5EF4-FFF2-40B4-BE49-F238E27FC236}">
                <ns2:creationId id="{DCCBDB8D-9F0D-46F2-A804-2D052E8E34EA}"/>
              </a:ext>
            </a:extLst>
          </p:cNvPr>
          <p:cNvSpPr>
            <a:spLocks noGrp="1"/>
          </p:cNvSpPr>
          <p:nvPr/>
        </p:nvSpPr>
        <p:spPr>
          <a:xfrm>
            <a:off x="5905500" y="1285875"/>
            <a:ext cx="2857500" cy="2095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00–10 입력·예시</a:t>
            </a:r>
          </a:p>
          <a:p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10–20 GET 요약</a:t>
            </a:r>
          </a:p>
          <a:p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20–35 객관식·OX·해설</a:t>
            </a:r>
          </a:p>
          <a:p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35–45 고정 결과·복귀</a:t>
            </a:r>
          </a:p>
          <a:p>
            <a: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45–60 상태·넓은 화면</a:t>
            </a:r>
          </a:p>
        </p:txBody>
      </p:sp>
      <p:sp>
        <p:nvSpPr>
          <p:cNvPr id="7" name="">
            <a:extLst>
              <a:ext uri="{FF2B5EF4-FFF2-40B4-BE49-F238E27FC236}">
                <ns2:creationId id="{8F524EE4-CA34-40CD-AC5E-6C87612DBA65}"/>
              </a:ext>
            </a:extLst>
          </p:cNvPr>
          <p:cNvSpPr>
            <a:spLocks noGrp="1"/>
          </p:cNvSpPr>
          <p:nvPr/>
        </p:nvSpPr>
        <p:spPr>
          <a:xfrm>
            <a:off x="381000" y="4238625"/>
            <a:ext cx="8382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docs/영상/demo_1min.mp4</a:t>
            </a:r>
          </a:p>
          <a:p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실제 브라우저 캡처 편집본. 3상태는 위젯 테스트 캡처로 표시.</a:t>
            </a:r>
          </a:p>
          <a:p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연속 녹화가 아니며 실제 조작은 로컬 앱에서 시연합니다.</a:t>
            </a:r>
          </a:p>
        </p:txBody>
      </p:sp>
    </p:spTree>
    <p:extLst>
      <p:ext uri="{BB962C8B-B14F-4D97-AF65-F5344CB8AC3E}">
        <p14:creationId val="8163090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4A011B-40CD-4C6B-B8B5-89E3CCC1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본문 7 /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7A88C-D249-43EE-87B3-8A681316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7. Personal Learnings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DFCFA-D373-4FDC-A2CF-20B4E9403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9C047-721B-487B-8EC8-B49DFA02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05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0:15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EBE05-8433-465F-9191-9508B693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28750"/>
            <a:ext cx="828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화면의 단순함과 복습의 근거를 함께 고려해야 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5F818-66C6-4C7E-9409-59F08CA0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476500"/>
            <a:ext cx="8096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이번 판단</a:t>
            </a:r>
          </a:p>
          <a:p xmlns:a="http://schemas.openxmlformats.org/drawingml/2006/main">
            <a: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원문을 숨기지 않고 읽기 순서를 정리했습니다.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다음 검증</a:t>
            </a:r>
          </a:p>
          <a:p xmlns:a="http://schemas.openxmlformats.org/drawingml/2006/main">
            <a: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학습자가 정답과 근거를 찾는 시간을 관찰해</a:t>
            </a:r>
          </a:p>
          <a:p xmlns:a="http://schemas.openxmlformats.org/drawingml/2006/main">
            <a:pPr>
              <a:def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정보 위계와 스크롤 부담을 평가하겠습니다.</a:t>
            </a:r>
          </a:p>
        </p:txBody>
      </p:sp>
    </p:spTree>
    <p:extLst>
      <p:ext uri="{BB962C8B-B14F-4D97-AF65-F5344CB8AC3E}">
        <p14:creationId xmlns:p14="http://schemas.microsoft.com/office/powerpoint/2010/main" val="6235544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9996B-3A85-4B08-B4D7-2F1BEF5B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Q&amp;A · 2분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5F8B8-DD8F-4C88-8468-2EF93E7F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질의응답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B463E5-B516-4B2A-A72A-FDB07EA9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09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1994EC-5E59-4C2B-9200-97611FB41B89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6286500"/>
              </a:tblGrid>
              <a:tr h="6286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답변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AI가 동작하나요?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아니요. 로컬 db.json의 고정 예시를 읽습니다.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모두 보이면 복잡하지 않나요?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 반론을 인정하고 정답 우선·영역 구분을 적용했습니다. 효과 검증은 다음 단계입니다.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Knowt의 오류 원인을 찾았나요?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아니요. 리뷰 경험을 v2 설계의 가설로 연결했습니다.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점수인가요?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선택과 무관한 고정 결과입니다. 채점·저장은 없습니다.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630909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0AF03A-25C6-4127-8DF7-742BB7EE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B1 · 실제 브라우저 실행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1BF3CD-816F-45D1-B02C-81F8F78D1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전체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210FE4-D48B-414B-835D-308E19DF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C04474-5484-4682-A76E-DEFF2EBB84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2821581244915"/>
          <a:stretch xmlns:a="http://schemas.openxmlformats.org/drawingml/2006/main"/>
        </p:blipFill>
        <p:spPr>
          <a:xfrm xmlns:a="http://schemas.openxmlformats.org/drawingml/2006/main">
            <a:off x="587074" y="1143000"/>
            <a:ext cx="1540477" cy="33337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B54D7-E0A3-4FD9-ABE0-2D437529A8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7a3d149a04303"/>
          <a:stretch xmlns:a="http://schemas.openxmlformats.org/drawingml/2006/main"/>
        </p:blipFill>
        <p:spPr>
          <a:xfrm xmlns:a="http://schemas.openxmlformats.org/drawingml/2006/main">
            <a:off x="2730199" y="1143000"/>
            <a:ext cx="1540477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54525E-42A2-4368-BE16-5DAEC44AB9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e76a639ac4860"/>
          <a:stretch xmlns:a="http://schemas.openxmlformats.org/drawingml/2006/main"/>
        </p:blipFill>
        <p:spPr>
          <a:xfrm xmlns:a="http://schemas.openxmlformats.org/drawingml/2006/main">
            <a:off x="4873324" y="1143000"/>
            <a:ext cx="1540477" cy="3333750"/>
          </a:xfrm>
          <a:prstGeom xmlns:a="http://schemas.openxmlformats.org/drawingml/2006/main" prst="rect">
            <a:avLst/>
          </a:prstGeom>
        </p:spPr>
      </p:pic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3B93DA-C23A-4A70-AB57-E09896095E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dbfcb940df4eea"/>
          <a:stretch xmlns:a="http://schemas.openxmlformats.org/drawingml/2006/main"/>
        </p:blipFill>
        <p:spPr>
          <a:xfrm xmlns:a="http://schemas.openxmlformats.org/drawingml/2006/main">
            <a:off x="7016449" y="1143000"/>
            <a:ext cx="1540477" cy="3333750"/>
          </a:xfrm>
          <a:prstGeom xmlns:a="http://schemas.openxmlformats.org/drawingml/2006/main" prst="rect">
            <a:avLst/>
          </a:prstGeom>
        </p:spPr>
      </p:pic>
      <p:sp xmlns:a="http://schemas.openxmlformats.org/drawingml/2006/main">
        <p:nvSpPr>
          <p:cNvPr id="10" name="TextBox 9"/>
          <p:cNvSpPr txBox="1"/>
          <p:nvPr/>
        </p:nvSpPr>
        <p:spPr>
          <a:xfrm>
            <a:off x="587044" y="4526280"/>
            <a:ext cx="154076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0">
                <a:solidFill>
                  <a:srgbClr val="18243B"/>
                </a:solidFill>
                <a:latin typeface="Noto Sans KR"/>
              </a:rPr>
              <a:t>I 입력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2730398" y="4526280"/>
            <a:ext cx="154076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0">
                <a:solidFill>
                  <a:srgbClr val="18243B"/>
                </a:solidFill>
                <a:latin typeface="Noto Sans KR"/>
              </a:rPr>
              <a:t>Q 퀴즈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4873752" y="4526280"/>
            <a:ext cx="154076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0">
                <a:solidFill>
                  <a:srgbClr val="18243B"/>
                </a:solidFill>
                <a:latin typeface="Noto Sans KR"/>
              </a:rPr>
              <a:t>E 해설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7016191" y="4526280"/>
            <a:ext cx="154076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0">
                <a:solidFill>
                  <a:srgbClr val="18243B"/>
                </a:solidFill>
                <a:latin typeface="Noto Sans KR"/>
              </a:rPr>
              <a:t>R 결과</a:t>
            </a:r>
          </a:p>
        </p:txBody>
      </p:sp>
    </p:spTree>
    <p:extLst>
      <p:ext uri="{BB962C8B-B14F-4D97-AF65-F5344CB8AC3E}">
        <p14:creationId xmlns:p14="http://schemas.microsoft.com/office/powerpoint/2010/main" val="18365130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CA963-71C7-4265-859B-5D4F5A11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B1 · 위젯 테스트 / 실제 브라우저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6824F-326D-4AD9-802B-75923626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3상태와 적응형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7F9949-AD88-4099-BF60-A8449F33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0C0F6-DE5C-434E-A8EB-D7FA5AD468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fcac6ddfd42d4"/>
          <a:stretch xmlns:a="http://schemas.openxmlformats.org/drawingml/2006/main"/>
        </p:blipFill>
        <p:spPr>
          <a:xfrm xmlns:a="http://schemas.openxmlformats.org/drawingml/2006/main">
            <a:off x="460789" y="1190625"/>
            <a:ext cx="1364422" cy="29527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82F15-8922-459A-A435-7A60BFFEAC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803537147d4792"/>
          <a:stretch xmlns:a="http://schemas.openxmlformats.org/drawingml/2006/main"/>
        </p:blipFill>
        <p:spPr>
          <a:xfrm xmlns:a="http://schemas.openxmlformats.org/drawingml/2006/main">
            <a:off x="2175289" y="1190625"/>
            <a:ext cx="1364422" cy="2952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84DF8-DD7B-4CAB-A129-FE7A929346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8dc1d7322548b3"/>
          <a:stretch xmlns:a="http://schemas.openxmlformats.org/drawingml/2006/main"/>
        </p:blipFill>
        <p:spPr>
          <a:xfrm xmlns:a="http://schemas.openxmlformats.org/drawingml/2006/main">
            <a:off x="3889789" y="1190625"/>
            <a:ext cx="1364422" cy="2952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4A439-A768-4DB1-AEC2-073241C9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333875"/>
            <a:ext cx="838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12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rPr sz="1050"/>
              <a:t>로딩 / 오류·재시도 / 빈 목록: 위젯 테스트 렌더링</a:t>
            </a:r>
          </a:p>
          <a:p xmlns:a="http://schemas.openxmlformats.org/drawingml/2006/main">
            <a:r>
              <a:rPr sz="1050"/>
              <a:t>넓은 화면: 1280×800 위젯 테스트. 측면 안내와 3열 요약 확인.</a:t>
            </a:r>
          </a:p>
        </p:txBody>
      </p:sp>
      <p:pic xmlns:a="http://schemas.openxmlformats.org/drawingml/2006/main" xmlns:r="http://schemas.openxmlformats.org/officeDocument/2006/relationships">
        <p:nvPicPr>
          <p:cNvPr id="10" name="Picture 9" descr="summary-wid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1417320"/>
            <a:ext cx="2880360" cy="180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7004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CDD07E-BBCA-4C6D-AE5F-6EF5B3B0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A66A1-CD19-4703-AB5E-59FC8FB3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원칙 카드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969BFB-9ED5-4FBD-A57F-5737C211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453796-959F-4757-BCD5-C5802CA00433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14375"/>
                <a:gridCol w="1905000"/>
                <a:gridCol w="1809750"/>
                <a:gridCol w="1905000"/>
                <a:gridCol w="2047875"/>
              </a:tblGrid>
              <a:tr h="5905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시연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판단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 상태 인지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Q-1 / C-1·3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진행·3상태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 유지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 보기 불일치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Q-2 / E-2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원래 보기·내 선택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 답 목록 폐기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학생 상시 표시 선택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 상시 표시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접기 폐기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R23 간접 근거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실패 후 재시도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지속 복구 안내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D4AED-4D96-4834-8176-301FDD67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381500"/>
            <a:ext cx="838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rPr sz="950"/>
              <a:t>추가 적용: P03 R-3·R-4 / P05 I-1·Q-3 / P07 S-4·E-4 / P08 S-1~3</a:t>
            </a:r>
          </a:p>
          <a:p xmlns:a="http://schemas.openxmlformats.org/drawingml/2006/main">
            <a:r>
              <a:rPr sz="950"/>
              <a:t>R23 파싱 실패와 네트워크 오류는 다른 원인입니다. 복구 필요성의 간접 근거로만 연결합니다.</a:t>
            </a:r>
          </a:p>
        </p:txBody>
      </p:sp>
    </p:spTree>
    <p:extLst>
      <p:ext uri="{BB962C8B-B14F-4D97-AF65-F5344CB8AC3E}">
        <p14:creationId xmlns:p14="http://schemas.microsoft.com/office/powerpoint/2010/main" val="3185991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6E99D-422C-4488-9225-8EC58D84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B3 · prompt-log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7CB61A-9A0A-4B2C-8462-5F063EA5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실제 대화와 AI 검토 기록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8CFBA-58C9-4954-BB38-9079D7BA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B1887-106A-4DBE-9F1A-6CA82EFFB075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9625"/>
                <a:gridCol w="3905250"/>
                <a:gridCol w="3667125"/>
              </a:tblGrid>
              <a:tr h="52387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ID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요청·입력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결과·판단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U0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코드와 논증을 보완하여 완성 요청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UI-only 구현, 문서·발표 보완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모두 항상 표시하고 접지 않는다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상시 표시 유지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U2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너무 번잡해서 중요한 내용을 빠르게 찾기 어렵다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중요 내용 탐색 부담이라는 자체 반론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분석 질문: 상시 표시의 약점은?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스크롤·탐색 부담. 제목·정답 우선으로 표현 수정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A2/A3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분석 질문: 별도 답 목록 / 일시 오류 안내?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 문항 객체 / 지속 복구 안내로 수정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AFA20-94A5-49DF-87EF-600720A5C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29125"/>
            <a:ext cx="838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rPr sz="950"/>
              <a:t>U는 학생 발화를 한국어로 옮긴 기록, A는 AI가 구성한 분석 질문입니다.</a:t>
            </a:r>
          </a:p>
          <a:p xmlns:a="http://schemas.openxmlformats.org/drawingml/2006/main">
            <a:r>
              <a:rPr sz="950"/>
              <a:t>U0은 반론 요청이 아니며, 쟁점 3·4는 AI 검토안으로만 표시합니다. 전체 기록: docs/prompt-log.md</a:t>
            </a:r>
          </a:p>
        </p:txBody>
      </p:sp>
    </p:spTree>
    <p:extLst>
      <p:ext uri="{BB962C8B-B14F-4D97-AF65-F5344CB8AC3E}">
        <p14:creationId xmlns:p14="http://schemas.microsoft.com/office/powerpoint/2010/main" val="17105878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88195-842E-4FA6-AD27-DEF95E6D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C4F3A1-6744-4D32-80B4-8A34561C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자가평가와 제출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3E6F57-3D63-44FD-B143-C0FC6621A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384E19-0F1C-4BF6-B199-0ECBE40C2563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762000"/>
                <a:gridCol w="6000750"/>
              </a:tblGrid>
              <a:tr h="5238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영역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배점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증거·상태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기획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B5 / 리뷰·저니·원인·요소·상태 계획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셀프 논증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학생 확인 2개 + AI 검토 2개. 한계 명시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UI 구현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정적 분석·6개 테스트·Web 빌드·1280px 캡처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발표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본문 7장·6분 대본·1분 영상. 실제 시간 측정은 제출자 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별도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개인 GitHub 원격 등록 완료. LMS 제출은 제출자 확인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C9C18F-70F8-4630-8DDF-35CA1B59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76750"/>
            <a:ext cx="838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05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자가 점수·학습 효과·LMS 제출 완료를 임의로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3893901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1E0EA-E97C-4467-BB13-A2F4AEA1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2단계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E88E01-A321-4C7F-911C-0075B0BF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사업 요약 1쪽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79684-6782-459D-90BA-177DB554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974A9D-491F-4C81-9E34-89056CB4DD74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6953250"/>
              </a:tblGrid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입력한 강의의 핵심을 읽고 문항·해설·근거를 이어서 검토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퍼소나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가상 21세 대학생. 이동 중 폰, 집에서 노트북. 자료 정리에 시간 소요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 복습 대응 혼란. R01·R23 입력·읽기 실패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가치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문항의 답·이유·원문을 숨기지 않고 비교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성공 조건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흐름 완주, 같은 문항 대응, 실패 복구, 폰/넓은 화면 읽기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범위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향후 AI 요약·생성 기획. 이번에는 고정 데이터 UI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1144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6D4A2E-39DC-4706-9F93-6D81027E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3단계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FBF10D-9C42-41B6-B3F9-BD8A9D3D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사용자 저니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E7E30-67D4-47D3-A552-44BD87D5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195DA-F2F0-4CE9-B2F2-FC7ACD48A1CF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1809750"/>
                <a:gridCol w="1809750"/>
                <a:gridCol w="1809750"/>
                <a:gridCol w="1809750"/>
              </a:tblGrid>
              <a:tr h="40481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복습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문제 풀이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해설 검토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목표·행동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텍스트 붙여넣기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주제·용어 확인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선택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답·이유·원문 비교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R01·R23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R02·R25 (간접)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감정 가설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−2 최저점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폰·노트북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폰·노트북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폰·넓은 화면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기회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텍스트 구조화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추출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문항 생성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연결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 위험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P05·P09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P08·P06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P01·P04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P04·P06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04813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예시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/topics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 /questions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같은 question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46C03C-F33B-4C0E-BC48-88F73421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524375"/>
            <a:ext cx="838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리뷰는 각 단계의 직접·간접 근거로 구분. 감정·기기는 관찰 측정값이 아닌 설계 가설.</a:t>
            </a:r>
          </a:p>
        </p:txBody>
      </p:sp>
    </p:spTree>
    <p:extLst>
      <p:ext uri="{BB962C8B-B14F-4D97-AF65-F5344CB8AC3E}">
        <p14:creationId xmlns:p14="http://schemas.microsoft.com/office/powerpoint/2010/main" val="78811441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D5A82F-BA7D-4208-8D69-1FCE1D07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4단계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1A658E-21C0-412C-87D5-8D2CA4D5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피쉬본: 복습 정보 비교의 어려움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BD17C-8828-4F73-97A5-8F3153A9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48110-61C1-420B-AEFF-33FA76AF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7524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51E897-F044-430D-9F27-419DE77F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90750"/>
            <a:ext cx="1285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답·근거</a:t>
            </a:r>
          </a:p>
          <a:p xmlns:a="http://schemas.openxmlformats.org/drawingml/2006/main">
            <a:pPr>
              <a:def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비교 어려움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3F5BA-78E0-4AAF-B202-F81E4F3E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238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모바일 UX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035A3-C18A-461E-BC2B-BAD4D33F7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716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좁은 화면·긴 스크롤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87B70-99D5-490A-A0BB-540590C3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19300"/>
            <a:ext cx="571500" cy="695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32926E-61BE-4F68-9AE5-4162228F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238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사용성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5F4A4-09B7-4F47-A985-B0DE18D5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716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정보 위계 부족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252A22-3E3A-448C-B5AC-5BF69178C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19300"/>
            <a:ext cx="571500" cy="695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B9395B-F7FD-4987-A5EB-12D70E4A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238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데이터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FB36F-DED7-40D3-BFA4-3C82360F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5716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문항 대응 불명확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90E7D-B08A-411C-86BB-2C037C0A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19300"/>
            <a:ext cx="571500" cy="6953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80A772-45E2-4B48-89DB-BF8E7CC9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API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9CB58-C355-42C3-AB16-0BF0DBDC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576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화면별 재조립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95D23B-F14D-467C-8CF8-A1CB8FA2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14625"/>
            <a:ext cx="571500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B46DDB-B37D-4947-A0B5-3F93C23A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네트워크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22B2B7-CF13-47BF-A47C-3B087ED29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576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실패·빈 결과 혼동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2EE6D5-D32E-4232-B7F9-ED572277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14625"/>
            <a:ext cx="571500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CE6C1B-02A9-4F6B-9451-7D1772E0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5242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프로세스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21A702-E8DE-40E8-8BAA-BAD0C797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57625"/>
            <a:ext cx="2000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대응 검토 조건 부족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07D76C-7734-4749-B54F-091A6BA4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571500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F609B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A3F489-2A7B-4404-9291-E92D3CB03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524375"/>
            <a:ext cx="838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원인 후보는 설계 가설. Knowt 내부 구현을 조사한 결과가 아닙니다.</a:t>
            </a:r>
          </a:p>
        </p:txBody>
      </p:sp>
    </p:spTree>
    <p:extLst>
      <p:ext uri="{BB962C8B-B14F-4D97-AF65-F5344CB8AC3E}">
        <p14:creationId xmlns:p14="http://schemas.microsoft.com/office/powerpoint/2010/main" val="78811441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DE99F-95F2-4DE1-9FA7-57DD5E61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4단계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1E979-1AC4-4E7F-BAED-FBB246A6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우선순위와 5 Why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B969F-A3E2-4A28-AF18-AAC20E44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703BCB-8E7D-499E-A70B-43F1E02F22F1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9625"/>
                <a:gridCol w="7572375"/>
              </a:tblGrid>
              <a:tr h="47625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원인 가설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복습 시 원래 보기와 다르다는 경험 때문에 비교가 어렵다(R06)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전환에서 문항·보기·답의 연결이 유지되지 않을 수 있다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화면마다 데이터를 별도 조립할 수 있다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동일 ID로 전후 화면을 비교하는 검토 조건이 없을 수 있다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기준이 화면 열기에 그치고 문항 대응을 포함하지 않았을 수 있다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24325D-FF7E-4B91-B860-76D499C7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191000"/>
            <a:ext cx="838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우선순위: 핵심 학습 과업에 직접 연결되고 UI 범위에서 대응 가능</a:t>
            </a:r>
          </a:p>
          <a:p xmlns:a="http://schemas.openxmlformats.org/drawingml/2006/main">
            <a:pPr>
              <a:def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설계 대응: 같은 questions + index 전달, 문항별 답·근거 테스트</a:t>
            </a:r>
          </a:p>
        </p:txBody>
      </p:sp>
    </p:spTree>
    <p:extLst>
      <p:ext uri="{BB962C8B-B14F-4D97-AF65-F5344CB8AC3E}">
        <p14:creationId xmlns:p14="http://schemas.microsoft.com/office/powerpoint/2010/main" val="200598088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D89C8-8545-4999-B528-F4591C9E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5단계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02DDAF-3936-43BF-9C4E-72B0A9AD5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I 강의 입력 요소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622346-A170-4036-81B1-B5211819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8BEE8-073D-4091-B076-D8E3948FF4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ff74da15ce47f1"/>
          <a:stretch xmlns:a="http://schemas.openxmlformats.org/drawingml/2006/main"/>
        </p:blipFill>
        <p:spPr>
          <a:xfrm xmlns:a="http://schemas.openxmlformats.org/drawingml/2006/main">
            <a:off x="512025" y="1190625"/>
            <a:ext cx="1452450" cy="31432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64B8DF-B9CE-4DE6-98F9-C5FE4C6789E4}"/>
              </a:ext>
            </a:extLst>
          </p:cNvPr>
          <p:cNvGraphicFramePr/>
          <p:nvPr/>
        </p:nvGraphicFramePr>
        <p:xfrm>
          <a:off xmlns:a="http://schemas.openxmlformats.org/drawingml/2006/main" x="2333625" y="1190625"/>
          <a:ext xmlns:a="http://schemas.openxmlformats.org/drawingml/2006/main" cx="6429375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"/>
                <a:gridCol w="1381125"/>
                <a:gridCol w="1714500"/>
                <a:gridCol w="2809875"/>
              </a:tblGrid>
              <a:tr h="71437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위젯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명칭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원칙·이유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TextField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 내용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P05 큰 입력 영역; 빈 입력 안내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TextButton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강의 불러오기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빈 상태에서 시작 부담 감소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요약 확인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 실제 AI 생성과 혼동 방지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4FFB55-8C4C-4A76-BF82-5BBF69E8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38625"/>
            <a:ext cx="6429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목적·내용·의도: 입력 위치를 크게 보여 시작 부담을 줄인다. 빈 입력을 같은 영역에서 안내한다.</a:t>
            </a:r>
          </a:p>
        </p:txBody>
      </p:sp>
    </p:spTree>
    <p:extLst>
      <p:ext uri="{BB962C8B-B14F-4D97-AF65-F5344CB8AC3E}">
        <p14:creationId xmlns:p14="http://schemas.microsoft.com/office/powerpoint/2010/main" val="270675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A43F3-7D53-43E6-A529-318A4AA5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5단계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8B4E1-B852-41A1-A731-91E0E318A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S 핵심 요약 요소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40425B-4468-47C9-9555-BC858241E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256D6C-7C52-4EE2-BCBD-25340FBAE6F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440790bd5427b"/>
          <a:stretch xmlns:a="http://schemas.openxmlformats.org/drawingml/2006/main"/>
        </p:blipFill>
        <p:spPr>
          <a:xfrm xmlns:a="http://schemas.openxmlformats.org/drawingml/2006/main">
            <a:off x="512025" y="1190625"/>
            <a:ext cx="1452450" cy="31432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11D85B-BDFD-4C38-B407-1AC61005687E}"/>
              </a:ext>
            </a:extLst>
          </p:cNvPr>
          <p:cNvGraphicFramePr/>
          <p:nvPr/>
        </p:nvGraphicFramePr>
        <p:xfrm>
          <a:off xmlns:a="http://schemas.openxmlformats.org/drawingml/2006/main" x="2333625" y="1190625"/>
          <a:ext xmlns:a="http://schemas.openxmlformats.org/drawingml/2006/main" cx="6429375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"/>
                <a:gridCol w="1381125"/>
                <a:gridCol w="1714500"/>
                <a:gridCol w="2809875"/>
              </a:tblGrid>
              <a:tr h="5715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위젯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명칭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원칙·이유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Container + Text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선언형 UI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P08 핵심 제목을 먼저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Container + Text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레이아웃과 제약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 주제·요약·근거 순서 반복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Container + Text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수평 프로토타입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 동일한 정보 위계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S-4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복습 퀴즈 시작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 다음 과업으로 이동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AAB40-2DD0-47B0-9241-90E3E2F7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38625"/>
            <a:ext cx="6429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목적·내용·의도: 주제·요약·근거 순서를 반복한다. 좁으면 세로, 넓으면 세 열로 배치한다.</a:t>
            </a:r>
          </a:p>
        </p:txBody>
      </p:sp>
    </p:spTree>
    <p:extLst>
      <p:ext uri="{BB962C8B-B14F-4D97-AF65-F5344CB8AC3E}">
        <p14:creationId xmlns:p14="http://schemas.microsoft.com/office/powerpoint/2010/main" val="124336703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D69475-5C27-436D-8579-BFC5720B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5단계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6006D-649C-4639-8C4F-9466CACE8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Q 복습 퀴즈 요소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E1464-BF9D-4620-922D-91954FA01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71000-497A-4911-9077-A30465C044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0d877d0f74185"/>
          <a:stretch xmlns:a="http://schemas.openxmlformats.org/drawingml/2006/main"/>
        </p:blipFill>
        <p:spPr>
          <a:xfrm xmlns:a="http://schemas.openxmlformats.org/drawingml/2006/main">
            <a:off x="512025" y="1190625"/>
            <a:ext cx="1452450" cy="31432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66125A-8527-424A-AC1C-E2E2838D891C}"/>
              </a:ext>
            </a:extLst>
          </p:cNvPr>
          <p:cNvGraphicFramePr/>
          <p:nvPr/>
        </p:nvGraphicFramePr>
        <p:xfrm>
          <a:off xmlns:a="http://schemas.openxmlformats.org/drawingml/2006/main" x="2333625" y="1190625"/>
          <a:ext xmlns:a="http://schemas.openxmlformats.org/drawingml/2006/main" cx="6429375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"/>
                <a:gridCol w="1381125"/>
                <a:gridCol w="1714500"/>
                <a:gridCol w="2809875"/>
              </a:tblGrid>
              <a:tr h="714375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위젯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명칭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원칙·이유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 + LinearProgressIndicator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문항 진행 안내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 위치와 전체 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보기 선택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 하나의 문항 options와 선택 강조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정답과 해설 확인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P05 선택 전 비활성화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3E057C-1015-4E53-A216-AEC9E322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38625"/>
            <a:ext cx="6429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목적·내용·의도: 현재 위치와 선택을 명확히 표시한다. 선택 전 확인 버튼은 비활성화한다.</a:t>
            </a:r>
          </a:p>
        </p:txBody>
      </p:sp>
    </p:spTree>
    <p:extLst>
      <p:ext uri="{BB962C8B-B14F-4D97-AF65-F5344CB8AC3E}">
        <p14:creationId xmlns:p14="http://schemas.microsoft.com/office/powerpoint/2010/main" val="128988443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77DD15-5BAF-4C47-9C6E-90C7269F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5단계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82E105-1B1C-4375-B1F9-8341365C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E 정답과 해설 요소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92B62-A48E-4F09-91BD-447D3F3E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B02870-E2E5-41D9-BEC7-9772E1C267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1850efde0d4705"/>
          <a:stretch xmlns:a="http://schemas.openxmlformats.org/drawingml/2006/main"/>
        </p:blipFill>
        <p:spPr>
          <a:xfrm xmlns:a="http://schemas.openxmlformats.org/drawingml/2006/main">
            <a:off x="512025" y="1190625"/>
            <a:ext cx="1452450" cy="31432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4B860-15C3-4D7E-B766-1B1D0D40AA39}"/>
              </a:ext>
            </a:extLst>
          </p:cNvPr>
          <p:cNvGraphicFramePr/>
          <p:nvPr/>
        </p:nvGraphicFramePr>
        <p:xfrm>
          <a:off xmlns:a="http://schemas.openxmlformats.org/drawingml/2006/main" x="2333625" y="1190625"/>
          <a:ext xmlns:a="http://schemas.openxmlformats.org/drawingml/2006/main" cx="6429375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"/>
                <a:gridCol w="1381125"/>
                <a:gridCol w="1714500"/>
                <a:gridCol w="2809875"/>
              </a:tblGrid>
              <a:tr h="5715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위젯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명칭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원칙·이유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문항 진행 안내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현재 해설 위치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Container + Text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정답과 해설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P04 동일 question의 정답·설명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Container + Text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강의 근거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원문 상시 노출로 기억 부담 감소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E-4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 문제 / 예시 결과 보기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 읽은 뒤 다음 행동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F66908-4694-4F65-BDAE-4F8FC1F1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38625"/>
            <a:ext cx="6429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목적·내용·의도: 정답·해설·원문을 항상 표시한다. 같은 문항 객체를 사용하고 접지 않는다.</a:t>
            </a:r>
          </a:p>
        </p:txBody>
      </p:sp>
    </p:spTree>
    <p:extLst>
      <p:ext uri="{BB962C8B-B14F-4D97-AF65-F5344CB8AC3E}">
        <p14:creationId xmlns:p14="http://schemas.microsoft.com/office/powerpoint/2010/main" val="167708512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4A23B-E91A-437C-96EE-68F0F53A4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5단계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3937A-ED7B-4C20-B1F2-60409155E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R 예시 결과 요소 분석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AA1E4-BEE5-4595-92BD-983583AA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A3C7A1-1386-4DCC-A229-7FB5798510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a15b58a42e4dbf"/>
          <a:stretch xmlns:a="http://schemas.openxmlformats.org/drawingml/2006/main"/>
        </p:blipFill>
        <p:spPr>
          <a:xfrm xmlns:a="http://schemas.openxmlformats.org/drawingml/2006/main">
            <a:off x="512025" y="1190625"/>
            <a:ext cx="1452450" cy="31432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04935-F662-4637-A58F-D9B360EF51E5}"/>
              </a:ext>
            </a:extLst>
          </p:cNvPr>
          <p:cNvGraphicFramePr/>
          <p:nvPr/>
        </p:nvGraphicFramePr>
        <p:xfrm>
          <a:off xmlns:a="http://schemas.openxmlformats.org/drawingml/2006/main" x="2333625" y="1190625"/>
          <a:ext xmlns:a="http://schemas.openxmlformats.org/drawingml/2006/main" cx="6429375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"/>
                <a:gridCol w="1381125"/>
                <a:gridCol w="1714500"/>
                <a:gridCol w="2809875"/>
              </a:tblGrid>
              <a:tr h="571500"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번호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위젯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명칭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원칙·이유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Text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예시 결과 안내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P01 실제 채점과 구분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Container + Text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다시 볼 개념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P06 고정 복습 대상 명시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R-3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OutlinedButton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해설 다시 보기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 복습 재진입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R-4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FilledButton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강의 입력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P03 첫 화면 복귀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55CC2-10DB-49CC-8062-BF4043A0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38625"/>
            <a:ext cx="6429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목적·내용·의도: 고정 예시임을 명시한다. 해설 재진입과 처음 돌아가기의 두 행동을 구분한다.</a:t>
            </a:r>
          </a:p>
        </p:txBody>
      </p:sp>
    </p:spTree>
    <p:extLst>
      <p:ext uri="{BB962C8B-B14F-4D97-AF65-F5344CB8AC3E}">
        <p14:creationId xmlns:p14="http://schemas.microsoft.com/office/powerpoint/2010/main" val="100464900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01908-6F20-41B7-A834-D70BA248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계획과 구현 구분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33CA6-8B86-45D6-8213-4BB3C353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상태관리 포인트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7D0D9E-B38B-4FAB-96F3-31B64ADF6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EF71C-B451-46AA-A232-7DD51A044C5F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1619250"/>
                <a:gridCol w="1619250"/>
                <a:gridCol w="3333750"/>
              </a:tblGrid>
              <a:tr h="539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행동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표시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구현 범위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텍스트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입력·예시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내부 controller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선택한 보기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setState, 저장·채점 없음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문항 위치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다음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Q-1 / E-1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 인수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읽기 상태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GET·재시도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C-1~3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FutureBuilder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97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 이력·AI 응답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향후 사용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S/Q/E/R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계획만 표시, 구현 없음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464900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F82DA-4F01-4F19-991F-8D09762E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기획 1단계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88C9B6-D3D4-40CF-9444-B78131B7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리뷰 표본과 출처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F06B0D-46C3-48EF-8BBF-405B4AC1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AFA75-1F56-45A4-93E2-0480AB51C66D}"/>
              </a:ext>
            </a:extLst>
          </p:cNvPr>
          <p:cNvGraphicFramePr/>
          <p:nvPr/>
        </p:nvGraphicFramePr>
        <p:xfrm>
          <a:off xmlns:a="http://schemas.openxmlformats.org/drawingml/2006/main" x="381000" y="1190625"/>
          <a:ext xmlns:a="http://schemas.openxmlformats.org/drawingml/2006/main" cx="83820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238250"/>
                <a:gridCol w="5429250"/>
              </a:tblGrid>
              <a:tr h="476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유형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최근 30건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설계 연결</a:t>
                      </a:r>
                    </a:p>
                  </a:txBody>
                  <a:tcPr marL="91440" marR="91440" marT="45720" marB="45720">
                    <a:solidFill>
                      <a:srgbClr val="18243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버그 리포트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R06 문항 대응, R12 입력, R23 읽기 실패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 요청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R03 비공개 요청: 이번 UI 범위 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경험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R02·R25 복습 도움, R27 지연·제한</a:t>
                      </a:r>
                    </a:p>
                  </a:txBody>
                  <a:tcPr marL="91440" marR="91440" marT="45720" marB="45720">
                    <a:solidFill>
                      <a:srgbClr val="F2F5F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8243B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호평·불만을 기능 원인과 구별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2ECD0-D302-4E9D-A65D-6D5D34759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57625"/>
            <a:ext cx="8382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전체 별점·익명화 30건: docs/ratings.json, reviews.json, 리뷰근거.md</a:t>
            </a:r>
          </a:p>
          <a:p xmlns:a="http://schemas.openxmlformats.org/drawingml/2006/main">
            <a: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Apple 상품 페이지 및 RSS · 2026-10-29 재확인</a:t>
            </a:r>
          </a:p>
          <a:p xmlns:a="http://schemas.openxmlformats.org/drawingml/2006/main">
            <a:pPr>
              <a:def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대표 인용에는 날짜·별점 포함, 작성자명 삭제. 표본은 전체 사용자를 대표하지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00464900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D00483-2C31-4EB0-9DF6-2C4F646E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B5 · 제출 안내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A26971-0990-4DA0-8664-EE84F64C3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출처와 재현 방법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80FD6-05CA-4FD0-84F7-A66DB5DE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EFF228-B4BA-4F34-90AC-67AB4FAAF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90625"/>
            <a:ext cx="83820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425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rPr sz="1425"/>
              <a:t>기반 템플릿</a:t>
            </a:r>
          </a:p>
          <a:p xmlns:a="http://schemas.openxmlformats.org/drawingml/2006/main">
            <a:r>
              <a:rPr sz="1425"/>
              <a:t>github.com/xide-projext/mid-project-template</a:t>
            </a:r>
          </a:p>
          <a:p xmlns:a="http://schemas.openxmlformats.org/drawingml/2006/main">
            <a:r>
              <a:rPr sz="1425"/>
              <a:t>커밋 3a2d643ed1ff23d378995e5902d42f9edec74fe1</a:t>
            </a:r>
          </a:p>
          <a:p xmlns:a="http://schemas.openxmlformats.org/drawingml/2006/main"/>
          <a:p xmlns:a="http://schemas.openxmlformats.org/drawingml/2006/main">
            <a:r>
              <a:rPr sz="1425"/>
              <a:t>실행</a:t>
            </a:r>
          </a:p>
          <a:p xmlns:a="http://schemas.openxmlformats.org/drawingml/2006/main">
            <a:r>
              <a:rPr sz="1425"/>
              <a:t>mock_server: npm ci → npm start</a:t>
            </a:r>
          </a:p>
          <a:p xmlns:a="http://schemas.openxmlformats.org/drawingml/2006/main">
            <a:r>
              <a:rPr sz="1425"/>
              <a:t>프로젝트 루트: flutter pub get → flutter run -d chrome</a:t>
            </a:r>
          </a:p>
          <a:p xmlns:a="http://schemas.openxmlformats.org/drawingml/2006/main"/>
          <a:p xmlns:a="http://schemas.openxmlformats.org/drawingml/2006/main">
            <a:r>
              <a:rPr sz="1425"/>
              <a:t>제출</a:t>
            </a:r>
          </a:p>
          <a:p xmlns:a="http://schemas.openxmlformats.org/drawingml/2006/main">
            <a:r>
              <a:rPr sz="1425"/>
              <a:t>개인 GitHub 원격 등록 완료. README의 영상 링크까지 업로드.</a:t>
            </a:r>
          </a:p>
          <a:p xmlns:a="http://schemas.openxmlformats.org/drawingml/2006/main">
            <a:r>
              <a:rPr sz="1425"/>
              <a:t>LMS 제출과 6분 발표 시간 측정은 제출자가 확인.</a:t>
            </a:r>
          </a:p>
        </p:txBody>
      </p:sp>
    </p:spTree>
    <p:extLst>
      <p:ext uri="{BB962C8B-B14F-4D97-AF65-F5344CB8AC3E}">
        <p14:creationId xmlns:p14="http://schemas.microsoft.com/office/powerpoint/2010/main" val="100464900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7CBA7B-E552-4BE3-9CCC-084CB38B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905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825" b="1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B3 · 실제 학생 판단과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5A1A3E-EE43-4848-9EBD-AA6A39CA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95300"/>
            <a:ext cx="838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8243B"/>
                </a:solidFill>
                <a:latin typeface="Noto Sans KR"/>
                <a:ea typeface="Noto Sans KR"/>
                <a:cs typeface="Noto Sans KR"/>
              </a:rPr>
              <a:t>상시 표시 판단의 전·후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CDBDAD-6939-4DCD-930B-66E77FC6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5775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750" b="0">
                <a:solidFill>
                  <a:srgbClr val="657491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t>NoteQuiz · zhaoboda 2025106293 · 14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C9AA06-AB17-4C19-A21B-57CB1B720D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227bbeac964155"/>
          <a:stretch xmlns:a="http://schemas.openxmlformats.org/drawingml/2006/main"/>
        </p:blipFill>
        <p:spPr>
          <a:xfrm xmlns:a="http://schemas.openxmlformats.org/drawingml/2006/main">
            <a:off x="659698" y="1190625"/>
            <a:ext cx="1538104" cy="3333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DBB68-CADC-4CA3-AC30-FF9174E0F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381125"/>
            <a:ext cx="34290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1350" b="0">
                <a:solidFill>
                  <a:srgbClr val="18243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r>
              <a:rPr sz="1320"/>
              <a:t>전: 설계 비교안</a:t>
            </a:r>
          </a:p>
          <a:p xmlns:a="http://schemas.openxmlformats.org/drawingml/2006/main">
            <a:r>
              <a:rPr sz="1320"/>
              <a:t>후: 현재 UI 위젯 테스트</a:t>
            </a:r>
          </a:p>
          <a:p xmlns:a="http://schemas.openxmlformats.org/drawingml/2006/main"/>
          <a:p xmlns:a="http://schemas.openxmlformats.org/drawingml/2006/main">
            <a:r>
              <a:rPr sz="1320"/>
              <a:t>학생 최종 판단(확인됨)</a:t>
            </a:r>
          </a:p>
          <a:p xmlns:a="http://schemas.openxmlformats.org/drawingml/2006/main">
            <a:r>
              <a:rPr sz="1320"/>
              <a:t>직접 대조하기 위해 모두 표시한다.</a:t>
            </a:r>
          </a:p>
          <a:p xmlns:a="http://schemas.openxmlformats.org/drawingml/2006/main">
            <a:r>
              <a:rPr sz="1320"/>
              <a:t>원래 보기와 내 선택을 함께 두고</a:t>
            </a:r>
          </a:p>
          <a:p xmlns:a="http://schemas.openxmlformats.org/drawingml/2006/main">
            <a:r>
              <a:rPr sz="1320"/>
              <a:t>제목·색·여백으로 구분하며 스크롤을 수용한다.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E40572-BC5B-48E7-B797-9C6DAB3B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572000"/>
            <a:ext cx="838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defPPr>
            <a:lvl1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1pPr>
            <a:lvl2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2pPr>
            <a:lvl3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3pPr>
            <a:lvl4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4pPr>
            <a:lvl5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5pPr>
            <a:lvl6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6pPr>
            <a:lvl7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7pPr>
            <a:lvl8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8pPr>
            <a:lvl9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4F609B"/>
                </a:solidFill>
                <a:latin typeface="Noto Sans KR"/>
                <a:ea typeface="Noto Sans KR"/>
                <a:cs typeface="Noto Sans KR"/>
              </a:rPr>
              <a:t>과거 배포 버전·사용자 실험이 아닌 설계 비교입니다. 실제 응답: prompt-log U1/U2/U3.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Picture 8" descr="explanation-phone-option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5012" y="1190625"/>
            <a:ext cx="1540477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7639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2026-10-28T23:39:06.9650000Z</dcterms:created>
  <dcterms:modified xsi:type="dcterms:W3CDTF">2026-10-28T23:39:06.9650000Z</dcterms:modified>
</coreProperties>
</file>